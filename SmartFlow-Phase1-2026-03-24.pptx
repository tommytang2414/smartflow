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Congress Trades (count)</c:v>
                </c:pt>
              </c:strCache>
            </c:strRef>
          </c:tx>
          <c:spPr>
            <a:solidFill>
              <a:srgbClr val="30A3DA"/>
            </a:solidFill>
          </c:spPr>
          <c:cat>
            <c:strRef>
              <c:f>Sheet1!$A$2:$A$6</c:f>
              <c:strCache>
                <c:ptCount val="5"/>
                <c:pt idx="0">
                  <c:v>MSFT</c:v>
                </c:pt>
                <c:pt idx="1">
                  <c:v>AAPL</c:v>
                </c:pt>
                <c:pt idx="2">
                  <c:v>NVDA</c:v>
                </c:pt>
                <c:pt idx="3">
                  <c:v>GOOGL</c:v>
                </c:pt>
                <c:pt idx="4">
                  <c:v>AMZN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</c:v>
                </c:pt>
                <c:pt idx="1">
                  <c:v>18</c:v>
                </c:pt>
                <c:pt idx="2">
                  <c:v>15</c:v>
                </c:pt>
                <c:pt idx="3">
                  <c:v>15</c:v>
                </c:pt>
                <c:pt idx="4">
                  <c:v>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54864"/>
          </a:xfrm>
          <a:prstGeom prst="rect">
            <a:avLst/>
          </a:prstGeom>
          <a:solidFill>
            <a:srgbClr val="30A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ontserrat"/>
              </a:rPr>
              <a:t>SmartFlow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0A3DA"/>
                </a:solidFill>
                <a:latin typeface="Calibri"/>
              </a:rPr>
              <a:t>Smart Money Data Pipeline — Phase 1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36E72"/>
                </a:solidFill>
                <a:latin typeface="Calibri"/>
              </a:rPr>
              <a:t>March 2026 · Personal Trading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5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30A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</a:rPr>
              <a:t>Phase 1 delivers 981 live signals from 2 privileged data sources in one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811780" cy="4389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811780" cy="64008"/>
          </a:xfrm>
          <a:prstGeom prst="rect">
            <a:avLst/>
          </a:prstGeom>
          <a:solidFill>
            <a:srgbClr val="30A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25374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51C2A"/>
                </a:solidFill>
                <a:latin typeface="Montserrat"/>
              </a:rPr>
              <a:t>981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26289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3436"/>
                </a:solidFill>
                <a:latin typeface="Calibri"/>
              </a:rPr>
              <a:t>Signals in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26289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36E72"/>
                </a:solidFill>
                <a:latin typeface="Calibri"/>
              </a:rPr>
              <a:t>Insider trades + Congress disclosures — collected in a single run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1860" y="1371600"/>
            <a:ext cx="2811780" cy="4389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1860" y="1371600"/>
            <a:ext cx="2811780" cy="64008"/>
          </a:xfrm>
          <a:prstGeom prst="rect">
            <a:avLst/>
          </a:prstGeom>
          <a:solidFill>
            <a:srgbClr val="30A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1737360"/>
            <a:ext cx="25374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51C2A"/>
                </a:solidFill>
                <a:latin typeface="Montserrat"/>
              </a:rPr>
              <a:t>942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3300" y="3108960"/>
            <a:ext cx="26289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3436"/>
                </a:solidFill>
                <a:latin typeface="Calibri"/>
              </a:rPr>
              <a:t>Congress Trades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3300" y="3703320"/>
            <a:ext cx="26289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36E72"/>
                </a:solidFill>
                <a:latin typeface="Calibri"/>
              </a:rPr>
              <a:t>House &amp; Senate via QuiverQuant free API · MSFT, AAPL, NVDA top traded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1371600"/>
            <a:ext cx="2811780" cy="4389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1371600"/>
            <a:ext cx="2811780" cy="64008"/>
          </a:xfrm>
          <a:prstGeom prst="rect">
            <a:avLst/>
          </a:prstGeom>
          <a:solidFill>
            <a:srgbClr val="30A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737360"/>
            <a:ext cx="25374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51C2A"/>
                </a:solidFill>
                <a:latin typeface="Montserrat"/>
              </a:rPr>
              <a:t>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108960"/>
            <a:ext cx="26289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3436"/>
                </a:solidFill>
                <a:latin typeface="Calibri"/>
              </a:rPr>
              <a:t>Insider Trades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703320"/>
            <a:ext cx="26289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36E72"/>
                </a:solidFill>
                <a:latin typeface="Calibri"/>
              </a:rPr>
              <a:t>SEC EDGAR Form 4 · Real-time via Atom feed · 100 filings parsed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41180" y="1371600"/>
            <a:ext cx="2811780" cy="4389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41180" y="1371600"/>
            <a:ext cx="2811780" cy="64008"/>
          </a:xfrm>
          <a:prstGeom prst="rect">
            <a:avLst/>
          </a:prstGeom>
          <a:solidFill>
            <a:srgbClr val="30A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78340" y="1737360"/>
            <a:ext cx="25374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51C2A"/>
                </a:solidFill>
                <a:latin typeface="Montserrat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2620" y="3108960"/>
            <a:ext cx="26289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D3436"/>
                </a:solidFill>
                <a:latin typeface="Calibri"/>
              </a:rPr>
              <a:t>Python 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2620" y="3703320"/>
            <a:ext cx="26289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36E72"/>
                </a:solidFill>
                <a:latin typeface="Calibri"/>
              </a:rPr>
              <a:t>Fully structured codebase · collector pattern · SQLite + APScheduler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5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30A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</a:rPr>
              <a:t>The edge: privileged actors leave public trails — SmartFlow captures them systematically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77840" cy="53035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A3DA"/>
                </a:solidFill>
                <a:latin typeface="Calibri"/>
              </a:rPr>
              <a:t>Why This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A3DA"/>
                </a:solidFill>
                <a:latin typeface="Calibri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436"/>
                </a:solidFill>
                <a:latin typeface="Calibri"/>
              </a:rPr>
              <a:t>Insiders know their company — Form 4 must be filed within 2 business days of trade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A3DA"/>
                </a:solidFill>
                <a:latin typeface="Calibri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436"/>
                </a:solidFill>
                <a:latin typeface="Calibri"/>
              </a:rPr>
              <a:t>Congress members trade on policy knowledge — STOCK Act forces disclosure within 45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A3DA"/>
                </a:solidFill>
                <a:latin typeface="Calibri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175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436"/>
                </a:solidFill>
                <a:latin typeface="Calibri"/>
              </a:rPr>
              <a:t>Institutional 13F reveals what $100M+ funds actually hold (not just what they say)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A3DA"/>
                </a:solidFill>
                <a:latin typeface="Calibri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436"/>
                </a:solidFill>
                <a:latin typeface="Calibri"/>
              </a:rPr>
              <a:t>Whale on-chain movements signal accumulation before price moves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A3DA"/>
                </a:solidFill>
                <a:latin typeface="Calibri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148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436"/>
                </a:solidFill>
                <a:latin typeface="Calibri"/>
              </a:rPr>
              <a:t>Cluster selling (e.g. CHPT: 5 insiders selling simultaneously) = red flag signal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234440"/>
            <a:ext cx="5577840" cy="53035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325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0A3DA"/>
                </a:solidFill>
                <a:latin typeface="Calibri"/>
              </a:rPr>
              <a:t>Design Philosophy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92024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A3DA"/>
                </a:solidFill>
                <a:latin typeface="Calibri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436"/>
                </a:solidFill>
                <a:latin typeface="Calibri"/>
              </a:rPr>
              <a:t>Unified schema — all signals in one table regardless of market or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6888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A3DA"/>
                </a:solidFill>
                <a:latin typeface="Calibri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436"/>
                </a:solidFill>
                <a:latin typeface="Calibri"/>
              </a:rPr>
              <a:t>Collector pattern — each data source is an isolated, swappable module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0175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A3DA"/>
                </a:solidFill>
                <a:latin typeface="Calibri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0175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436"/>
                </a:solidFill>
                <a:latin typeface="Calibri"/>
              </a:rPr>
              <a:t>SQLite first — no infrastructure overhead, portable, queryable from anywhere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5661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A3DA"/>
                </a:solidFill>
                <a:latin typeface="Calibri"/>
              </a:rPr>
              <a:t>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5661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436"/>
                </a:solidFill>
                <a:latin typeface="Calibri"/>
              </a:rPr>
              <a:t>Real-time polling via APScheduler — Form 4 checks every 5 minutes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1148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A3DA"/>
                </a:solidFill>
                <a:latin typeface="Calibri"/>
              </a:rPr>
              <a:t>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1148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436"/>
                </a:solidFill>
                <a:latin typeface="Calibri"/>
              </a:rPr>
              <a:t>Dedup by source_id — running twice never creates duplicate records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1234440"/>
            <a:ext cx="54864" cy="5303520"/>
          </a:xfrm>
          <a:prstGeom prst="rect">
            <a:avLst/>
          </a:prstGeom>
          <a:solidFill>
            <a:srgbClr val="30A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5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30A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</a:rPr>
              <a:t>Congress members bought and sold in near-equal proportions — MSFT, AAPL, NVDA dominate their portfolios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34440"/>
          <a:ext cx="11274552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5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30A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</a:rPr>
              <a:t>Architecture is complete for Phase 1 — 3 further phases planned for full market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225491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307592"/>
            <a:ext cx="210860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12110" y="1234440"/>
            <a:ext cx="225491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5262" y="1307592"/>
            <a:ext cx="210860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67020" y="1234440"/>
            <a:ext cx="225491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0172" y="1307592"/>
            <a:ext cx="210860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 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1931" y="1234440"/>
            <a:ext cx="225491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5083" y="1307592"/>
            <a:ext cx="210860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76841" y="1234440"/>
            <a:ext cx="225491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49993" y="1307592"/>
            <a:ext cx="210860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737360"/>
            <a:ext cx="2254910" cy="960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78308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Phase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12110" y="1737360"/>
            <a:ext cx="2254910" cy="960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5262" y="178308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US Stocks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67020" y="1737360"/>
            <a:ext cx="2254910" cy="960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0172" y="178308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SEC Form 4, 13F, Congress trades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1931" y="1737360"/>
            <a:ext cx="2254910" cy="960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5083" y="178308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EDGAR feed + QuiverQuant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76841" y="1737360"/>
            <a:ext cx="2254910" cy="960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49993" y="178308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8B57"/>
                </a:solidFill>
                <a:latin typeface="Calibri"/>
              </a:rPr>
              <a:t>✓ Done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697480"/>
            <a:ext cx="225491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274320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Phase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12110" y="2697480"/>
            <a:ext cx="225491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5262" y="274320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Crypto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67020" y="2697480"/>
            <a:ext cx="225491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40172" y="274320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Whale Alert, Etherscan, CoinGlass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1931" y="2697480"/>
            <a:ext cx="225491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95083" y="274320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REST APIs (free/freemium)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76841" y="2697480"/>
            <a:ext cx="225491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49993" y="274320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36E72"/>
                </a:solidFill>
                <a:latin typeface="Calibri"/>
              </a:rPr>
              <a:t>○ Planned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657600"/>
            <a:ext cx="2254910" cy="960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370332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Phase 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12110" y="3657600"/>
            <a:ext cx="2254910" cy="960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85262" y="370332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HK Stocks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67020" y="3657600"/>
            <a:ext cx="2254910" cy="960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40172" y="370332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HKEX directors, CCASS, shareholders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1931" y="3657600"/>
            <a:ext cx="2254910" cy="960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95083" y="370332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Web scraping (no public API)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76841" y="3657600"/>
            <a:ext cx="2254910" cy="960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49993" y="370332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36E72"/>
                </a:solidFill>
                <a:latin typeface="Calibri"/>
              </a:rPr>
              <a:t>○ Planned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617720"/>
            <a:ext cx="225491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466344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Phase 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12110" y="4617720"/>
            <a:ext cx="225491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85262" y="466344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Options Flow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67020" y="4617720"/>
            <a:ext cx="225491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40172" y="466344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FINRA dark pool, Unusual Whales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1931" y="4617720"/>
            <a:ext cx="225491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95083" y="466344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CSV download + paid API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76841" y="4617720"/>
            <a:ext cx="225491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49993" y="466344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36E72"/>
                </a:solidFill>
                <a:latin typeface="Calibri"/>
              </a:rPr>
              <a:t>○ Planned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5577840"/>
            <a:ext cx="2254910" cy="960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0352" y="562356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Phase 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12110" y="5577840"/>
            <a:ext cx="2254910" cy="960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85262" y="562356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All Markets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67020" y="5577840"/>
            <a:ext cx="2254910" cy="960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40172" y="562356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Dashboard, alerts, backtest hooks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21931" y="5577840"/>
            <a:ext cx="2254910" cy="960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95083" y="562356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Streamlit / Telegram bot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476841" y="5577840"/>
            <a:ext cx="2254910" cy="9601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49993" y="5623560"/>
            <a:ext cx="210860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36E72"/>
                </a:solidFill>
                <a:latin typeface="Calibri"/>
              </a:rPr>
              <a:t>○ Planned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5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30A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</a:rPr>
              <a:t>Full pipeline spans 5 phases — crypto and HK stocks are the highest-value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11064240" cy="3657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90472" y="3054096"/>
            <a:ext cx="329184" cy="32918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463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1C2A"/>
                </a:solidFill>
                <a:latin typeface="Calibri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8288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US Stocks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342900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SEC EDGAR Form 4
13F Holdings
Congress trades
CLI + Scheduler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9304" y="5669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E8B57"/>
                </a:solidFill>
                <a:latin typeface="Calibri"/>
              </a:rPr>
              <a:t>DONE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3054096"/>
            <a:ext cx="329184" cy="329184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1463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1C2A"/>
                </a:solidFill>
                <a:latin typeface="Calibri"/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18288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Crypto Whales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342900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Whale Alert API
Etherscan large txns
CoinGlass exchange flows
Wallet watchlist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5669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6E72"/>
                </a:solidFill>
                <a:latin typeface="Calibri"/>
              </a:rPr>
              <a:t>PLANNED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16168" y="3054096"/>
            <a:ext cx="329184" cy="329184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1463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1C2A"/>
                </a:solidFill>
                <a:latin typeface="Calibri"/>
              </a:rP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18288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HK Stocks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42900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HKEX directors
CCASS custody
Substantial holders
Bilingual parsing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5669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6E72"/>
                </a:solidFill>
                <a:latin typeface="Calibri"/>
              </a:rPr>
              <a:t>PLANNED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9016" y="3054096"/>
            <a:ext cx="329184" cy="329184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1463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1C2A"/>
                </a:solidFill>
                <a:latin typeface="Calibri"/>
              </a:rP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18288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Options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342900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FINRA dark pool
Unusual Whales
Block trades
OI anomalies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7848" y="5669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6E72"/>
                </a:solidFill>
                <a:latin typeface="Calibri"/>
              </a:rPr>
              <a:t>PLANNED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41864" y="3054096"/>
            <a:ext cx="329184" cy="329184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83496" y="1463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1C2A"/>
                </a:solidFill>
                <a:latin typeface="Calibri"/>
              </a:rPr>
              <a:t>Phase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3496" y="18288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436"/>
                </a:solidFill>
                <a:latin typeface="Calibri"/>
              </a:rPr>
              <a:t>Output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3496" y="342900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36E72"/>
                </a:solidFill>
                <a:latin typeface="Calibri"/>
              </a:rPr>
              <a:t>Streamlit dashboard
Telegram alerts
Backtest engine
Parquet exports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0696" y="5669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36E72"/>
                </a:solidFill>
                <a:latin typeface="Calibri"/>
              </a:rPr>
              <a:t>PLANNED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5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30A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Montserrat"/>
              </a:rPr>
              <a:t>SmartFlow is queryable today — 5 CLI commands cover the full collection and analysis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0A3DA"/>
                </a:solidFill>
                <a:latin typeface="Calibri"/>
              </a:rPr>
              <a:t>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436"/>
                </a:solidFill>
                <a:latin typeface="Calibri"/>
              </a:rPr>
              <a:t>python -m smartflow collect --source sec_form4     → fetch latest insider trades from SEC EDGAR Atom feed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0A3DA"/>
                </a:solidFill>
                <a:latin typeface="Calibri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436"/>
                </a:solidFill>
                <a:latin typeface="Calibri"/>
              </a:rPr>
              <a:t>python -m smartflow collect --source congress      → fetch Congress trades from QuiverQuant (free, no auth)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0A3DA"/>
                </a:solidFill>
                <a:latin typeface="Calibri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436"/>
                </a:solidFill>
                <a:latin typeface="Calibri"/>
              </a:rPr>
              <a:t>python -m smartflow collect --all                  → run all active collectors in sequence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546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0A3DA"/>
                </a:solidFill>
                <a:latin typeface="Calibri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546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436"/>
                </a:solidFill>
                <a:latin typeface="Calibri"/>
              </a:rPr>
              <a:t>python -m smartflow query --market US --days 7     → show all US signals from the past 7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490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0A3DA"/>
                </a:solidFill>
                <a:latin typeface="Calibri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49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436"/>
                </a:solidFill>
                <a:latin typeface="Calibri"/>
              </a:rPr>
              <a:t>python -m smartflow query --ticker AAPL            → filter by ticker (cross-source)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43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0A3DA"/>
                </a:solidFill>
                <a:latin typeface="Calibri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436"/>
                </a:solidFill>
                <a:latin typeface="Calibri"/>
              </a:rPr>
              <a:t>python -m smartflow query --direction BUY --min-value 500000  → big insider buys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0A3DA"/>
                </a:solidFill>
                <a:latin typeface="Calibri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377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436"/>
                </a:solidFill>
                <a:latin typeface="Calibri"/>
              </a:rPr>
              <a:t>python -m smartflow schedule --all                 → start continuous polling (Form 4 every 5 min)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943600"/>
            <a:ext cx="11247120" cy="5943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989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36E72"/>
                </a:solidFill>
                <a:latin typeface="Calibri"/>
              </a:rPr>
              <a:t>Note: DB at data/smartflow.db — queryable directly with any SQLite client. Add SEC_EDGAR_EMAIL to .env before running Form 4 collector.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54864"/>
          </a:xfrm>
          <a:prstGeom prst="rect">
            <a:avLst/>
          </a:prstGeom>
          <a:solidFill>
            <a:srgbClr val="30A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Montserrat"/>
              </a:rPr>
              <a:t>Next: Add crypto whale tracking + HK stock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520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A3DA"/>
                </a:solidFill>
                <a:latin typeface="Calibri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5204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Phase 2: Integrate Whale Alert API + Etherscan (need free API keys)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069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A3DA"/>
                </a:solidFill>
                <a:latin typeface="Calibr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069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Phase 3: Build HKEX director dealings scraper (highest value for local edge)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617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A3DA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6177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Phase 5: Wire Telegram alert bot to fire on cluster buys / large value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166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A3DA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1663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Stretch: Backtest 'follow congress buys &gt;$50k' strategy against SPY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36E72"/>
                </a:solidFill>
                <a:latin typeface="Calibri"/>
              </a:rPr>
              <a:t>SmartFlow v0.1 · Python + SQLite + APScheduler · C:\Users\user\SmartFlow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